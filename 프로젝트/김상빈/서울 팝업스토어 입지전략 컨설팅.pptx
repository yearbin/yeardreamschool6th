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Urbanist" panose="020B0600000101010101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D33B2F-C33A-434E-80FF-D0CA33026EA3}">
  <a:tblStyle styleId="{00D33B2F-C33A-434E-80FF-D0CA33026E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5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21025" y="1825079"/>
            <a:ext cx="434979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LOCATION STRATEGY CONSULTING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35314" y="2215604"/>
            <a:ext cx="8521221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서울 지하철 유동인구 기반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팝업스토어 입지 전략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4105126"/>
            <a:ext cx="762000" cy="381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689300" y="4524226"/>
            <a:ext cx="4813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주거·업무·복합 지역 분류를 통한 타겟팅 최적화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8375"/>
            <a:ext cx="523875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38375"/>
            <a:ext cx="523875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3295650"/>
            <a:ext cx="468058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입지 선정의 한계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857625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단순 총 유동인구 중심의 입지 선정은 높은 임대료 대비 타겟 불일치를 초래합니다. 주거지와 업무지의 상반된 시간대별 특성을 반영하지 못해 마케팅 효율이 저하됩니다.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295650"/>
            <a:ext cx="468058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데이터 기반 해결안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385762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지하철 승하차 데이터를 통해 서울시 주요 역사를 3가지 유형(주거, 업무, 복합)으로 명확히 분류하고, 각 유형에 연계된 최적의 운영 전략을 도출합니다.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657475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657475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분석 배경 및 </a:t>
            </a:r>
            <a:r>
              <a:rPr lang="en-US" sz="36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핵심 문제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87390"/>
            <a:ext cx="2536328" cy="100161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2382440"/>
            <a:ext cx="550068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지역 특성 지표 (X-Index)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94441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출근 시간대(07~09시) 승차와 하차 인원의 비대칭성을 활용하여 지역의 성격을 수리적으로 정의합니다.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5079503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* -1 ≤ X ≤ 1 범위의 연속형 변수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15125" y="253484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데이터셋: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서울시 지하철 승하차 데이터 (2021년 상반기)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15125" y="303014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독립변수: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피크 시간대(07~09시) 유동인구 구조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15125" y="352544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유의성 검정: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Kruskal-Wallis H 검정 결과 실질적 유의성 확인 (p &lt; .001)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173140"/>
            <a:ext cx="1964828" cy="43011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381750" y="253484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381750" y="303014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381750" y="352544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데이터 기반 </a:t>
            </a:r>
            <a:r>
              <a:rPr lang="en-US" sz="36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입지 지표 수립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1225"/>
            <a:ext cx="3492549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81225"/>
            <a:ext cx="3492549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81225"/>
            <a:ext cx="3492549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62025" y="2609850"/>
            <a:ext cx="2847074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주거 타운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62025" y="3171825"/>
            <a:ext cx="2711499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+0.63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62025" y="42195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대표 역사: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신림, 서울대입구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평균 승차 인원이 하차 인원보다 압도적으로 높음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740324" y="2609850"/>
            <a:ext cx="2847074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오피스 타운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740324" y="3171825"/>
            <a:ext cx="2711499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2E5B"/>
                </a:solidFill>
                <a:latin typeface="Urbanist"/>
                <a:ea typeface="Urbanist"/>
                <a:cs typeface="Urbanist"/>
                <a:sym typeface="Urbanist"/>
              </a:rPr>
              <a:t>-0.71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740324" y="42195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대표 역사: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강남, 구로디지털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평균 하차 인원이 승차 인원보다 압도적으로 높음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518624" y="2609850"/>
            <a:ext cx="2847074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복합 및 핫스팟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18624" y="3171825"/>
            <a:ext cx="2711499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0.02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18624" y="4219575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대표 역사: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성수, 홍대입구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승하차 인원이 균형을 이루며 목적형 방문객 집중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지역 유형별 </a:t>
            </a:r>
            <a:r>
              <a:rPr lang="en-US" sz="36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분류 결과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762000"/>
            <a:ext cx="52006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2E5B"/>
                </a:solidFill>
                <a:latin typeface="Urbanist"/>
                <a:ea typeface="Urbanist"/>
                <a:cs typeface="Urbanist"/>
                <a:sym typeface="Urbanist"/>
              </a:rPr>
              <a:t>RED ZONE: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 dirty="0" err="1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오피스</a:t>
            </a:r>
            <a:r>
              <a:rPr lang="en-US" sz="3600" b="1" i="0" u="none" strike="noStrike" cap="none" dirty="0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타운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362200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직장인 타겟 고관여 체험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04875" y="29527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골든 아워: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평일 점심 및 퇴근 시간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04875" y="34480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운영 전략: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월~금 5일 압축 운영 (주말 제외)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04875" y="39433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권장 품목: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F&amp;B, 헬스케어, 테크 가젯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04875" y="44386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특징: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높은 구매력, 짧지만 강렬한 브랜드 경험 중시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29527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34480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39433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44386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C18B47F-E1D2-4600-A791-31852E06C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482" y="0"/>
            <a:ext cx="60775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762000"/>
            <a:ext cx="52006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BLUE ZONE: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주거 타운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2362200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생활 밀착형 슬리퍼 상권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904875" y="29527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골든 아워: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평일 저녁 및 주말 전 시간대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04875" y="34480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운영 전략: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평일 낮 다운사이징, 주말 집중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04875" y="39433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권장 품목: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리빙 소품, 밀키트, 반려용품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04875" y="44386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특징: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지역 정주 인구 타겟, 신뢰와 편의성 중심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29527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34480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39433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44386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762000"/>
            <a:ext cx="5200650" cy="113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PURPLE ZONE: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복합 상권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2276475"/>
            <a:ext cx="5200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바이럴 메가 팝업</a:t>
            </a:r>
            <a:endParaRPr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904875" y="28479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골든 아워: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주중/주말 오후 상시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04875" y="33432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운영 전략: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인스타그램 바이럴 시각 요소 극대화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04875" y="38385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권장 품목: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패션, 뷰티, IP 협업 제품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04875" y="43338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특징: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목적형 방문객 위주, 긴 체류 시간 확보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28479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33432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38385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43338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62100"/>
            <a:ext cx="11049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71500" y="50339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* 2021년 상반기 08-09시 피크 시간대 기준 데이터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주요 거점 역사 </a:t>
            </a:r>
            <a:r>
              <a:rPr lang="en-US" sz="36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유동인구 분석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2538412"/>
            <a:ext cx="550068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업무 지구 'M자형' 곡선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31194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오전 하차(출근)와 오후 승차(퇴근)가 극단적으로 집중되는 구조를 보입니다.</a:t>
            </a:r>
            <a:endParaRPr/>
          </a:p>
        </p:txBody>
      </p:sp>
      <p:pic>
        <p:nvPicPr>
          <p:cNvPr id="201" name="Google Shape;20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38412"/>
            <a:ext cx="52387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904875" y="38814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08~09시: 압도적 하차 피크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04875" y="43767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12~13시: 점심 시간 가벼운 외출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04875" y="48720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18~19시: 퇴근 인원 폭증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38814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43767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4872037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시간대별 </a:t>
            </a:r>
            <a:r>
              <a:rPr lang="en-US" sz="36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방문 패턴 분석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1725"/>
            <a:ext cx="11049000" cy="3105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" name="Google Shape;215;p22"/>
          <p:cNvGraphicFramePr/>
          <p:nvPr>
            <p:extLst>
              <p:ext uri="{D42A27DB-BD31-4B8C-83A1-F6EECF244321}">
                <p14:modId xmlns:p14="http://schemas.microsoft.com/office/powerpoint/2010/main" val="2257442768"/>
              </p:ext>
            </p:extLst>
          </p:nvPr>
        </p:nvGraphicFramePr>
        <p:xfrm>
          <a:off x="581025" y="2381250"/>
          <a:ext cx="11029925" cy="3086125"/>
        </p:xfrm>
        <a:graphic>
          <a:graphicData uri="http://schemas.openxmlformats.org/drawingml/2006/table">
            <a:tbl>
              <a:tblPr firstRow="1" bandRow="1">
                <a:noFill/>
                <a:tableStyleId>{00D33B2F-C33A-434E-80FF-D0CA33026EA3}</a:tableStyleId>
              </a:tblPr>
              <a:tblGrid>
                <a:gridCol w="218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BF5AF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산업 분야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BF5AF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추천 입지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BF5AF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핵심 타겟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BF5AF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성공 포인트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패션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/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코스메틱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성수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홍대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복합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MZ세대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트렌드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세터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비주얼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임팩트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바이럴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식음료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(F&amp;B)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강남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광화문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업무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직장인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신속함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테이크아웃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편의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생활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/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가전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신림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노원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주거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</a:t>
                      </a:r>
                      <a:r>
                        <a:rPr lang="ko-KR" alt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인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가구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주부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체험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구독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모델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연계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IT /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게임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판교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성수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복합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업무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테크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헤비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유저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IP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몰입감</a:t>
                      </a:r>
                      <a:r>
                        <a:rPr lang="en-US" sz="1350" b="0" i="0" u="none" strike="noStrike" cap="none" dirty="0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ysClr val="windowText" lastClr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커뮤니티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6" name="Google Shape;216;p22"/>
          <p:cNvSpPr/>
          <p:nvPr/>
        </p:nvSpPr>
        <p:spPr>
          <a:xfrm>
            <a:off x="581025" y="3595687"/>
            <a:ext cx="2189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2770882" y="3595687"/>
            <a:ext cx="29017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672583" y="3595687"/>
            <a:ext cx="27808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8453437" y="3595687"/>
            <a:ext cx="31575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81025" y="4214812"/>
            <a:ext cx="2189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2770882" y="4214812"/>
            <a:ext cx="29017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5672583" y="4214812"/>
            <a:ext cx="27808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8453437" y="4214812"/>
            <a:ext cx="31575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81025" y="4833937"/>
            <a:ext cx="2189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2770882" y="4833937"/>
            <a:ext cx="29017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672583" y="4833937"/>
            <a:ext cx="27808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8453437" y="4833937"/>
            <a:ext cx="31575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81025" y="5453062"/>
            <a:ext cx="2189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2770882" y="5453062"/>
            <a:ext cx="29017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672583" y="5453062"/>
            <a:ext cx="27808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8453437" y="5453062"/>
            <a:ext cx="31575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산업별 </a:t>
            </a:r>
            <a:r>
              <a:rPr lang="en-US" sz="36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최적 입지 매칭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7450"/>
            <a:ext cx="52387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95750"/>
            <a:ext cx="523875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962025" y="2847975"/>
            <a:ext cx="468058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공간의 성격 이해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62025" y="340995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단순한 유동인구 총량이 아닌, 시간의 비대칭성과 공간의 목적을 이해하는 것이 성공적인 오프라인 마케팅의 핵심입니다.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715125" y="26098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오피스 타운: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주중 효율성 중심 압축 운영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715125" y="31051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주거 타운: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주말/저녁 생활 밀착형 접근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715125" y="36004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복합 상권:</a:t>
            </a:r>
            <a:r>
              <a:rPr lang="en-US" sz="15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 올라운드 바이럴 및 경험 전달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572250" y="428625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DATA-DRIVEN DECISION: 데이터는 거짓말을 하지 않습니다. 시간대별 승하차 데이터가 성공적인 팝업의 지도가 될 것입니다.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381750" y="26098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381750" y="31051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381750" y="36004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최종 전략 </a:t>
            </a:r>
            <a:r>
              <a:rPr lang="en-US" sz="3600" b="1" i="0" u="none" strike="noStrike" cap="none">
                <a:solidFill>
                  <a:srgbClr val="BF5AF2"/>
                </a:solidFill>
                <a:latin typeface="Urbanist"/>
                <a:ea typeface="Urbanist"/>
                <a:cs typeface="Urbanist"/>
                <a:sym typeface="Urbanist"/>
              </a:rPr>
              <a:t>요약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3895416" y="2303115"/>
            <a:ext cx="4401018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3440459" y="3369915"/>
            <a:ext cx="531108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Data-Driven Location Strategy for Business Success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4358133" y="4354710"/>
            <a:ext cx="347573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Seoul Subway Data Strategy Group | 2026.06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/>
          <p:nvPr/>
        </p:nvSpPr>
        <p:spPr>
          <a:xfrm>
            <a:off x="571500" y="262428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340905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3995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3995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4382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4382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37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276716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https://upload.wikimedia.org/wikipedia/commons/a/a2/Teheran-ro_Yeongdong-daero_crossing_7.jpg</a:t>
            </a:r>
            <a:endParaRPr dirty="0"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30128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en.wikipedia.org</a:t>
            </a:r>
            <a:endParaRPr dirty="0"/>
          </a:p>
        </p:txBody>
      </p:sp>
      <p:pic>
        <p:nvPicPr>
          <p:cNvPr id="272" name="Google Shape;27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57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355193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https://weave-living.com/cdn-cgi/image/width=1620,quality=75,trim=0;0;0;0/https://cdn.weave-living.com/original/weave_living_7d9d1780d4112998c946144b49038c31ebcbb353d7f97816/L1300196b-min.jpg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39957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www.weave-living.com</a:t>
            </a:r>
            <a:endParaRPr/>
          </a:p>
        </p:txBody>
      </p:sp>
      <p:pic>
        <p:nvPicPr>
          <p:cNvPr id="275" name="Google Shape;27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413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45347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https://www.korean-culture.org/eng/webzine/202602/images/sub/visual_sub03_m.webp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47805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www.korean-culture.org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724</Words>
  <Application>Microsoft Office PowerPoint</Application>
  <PresentationFormat>와이드스크린</PresentationFormat>
  <Paragraphs>110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Calibri</vt:lpstr>
      <vt:lpstr>Urbanist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중진공40</cp:lastModifiedBy>
  <cp:revision>2</cp:revision>
  <dcterms:modified xsi:type="dcterms:W3CDTF">2026-06-25T07:08:15Z</dcterms:modified>
</cp:coreProperties>
</file>