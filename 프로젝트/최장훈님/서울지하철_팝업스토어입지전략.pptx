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7476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188720"/>
            <a:ext cx="1097280" cy="1097280"/>
          </a:xfrm>
          <a:prstGeom prst="ellipse">
            <a:avLst/>
          </a:prstGeom>
          <a:solidFill>
            <a:srgbClr val="2980B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88720" y="1371600"/>
            <a:ext cx="914400" cy="914400"/>
          </a:xfrm>
          <a:prstGeom prst="ellipse">
            <a:avLst/>
          </a:prstGeom>
          <a:solidFill>
            <a:srgbClr val="C0392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rgbClr val="7F8C8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377440" y="1005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지하철 유동인구 기반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377440" y="16002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주거·업무 지역 분류 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377440" y="21488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팝업스토어 입지 전략 분석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377440" y="2834640"/>
            <a:ext cx="22860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301752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출근 시간대(07~09시) 승하차 데이터를 활용한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주거 타운 / 오피스 타운 / 복합 지역 분류 모델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709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이어드림스쿨6기  |  데이터 분석 프로젝트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833"/>
                </a:solidFill>
              </a:rPr>
              <a:t>분석 배경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</a:rPr>
              <a:t>Situation · Complication · Question · Answer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548640" cy="54864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847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833"/>
                </a:solidFill>
              </a:rPr>
              <a:t>분석 방법론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1671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</a:rPr>
              <a:t>지역특성지표 X 정의 및 통계적 가설 설정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548640" cy="54864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968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59689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833"/>
                </a:solidFill>
              </a:rPr>
              <a:t>가설 검정 및 통계 검증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9169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</a:rPr>
              <a:t>Kruskal-Wallis H Test / 효과크기 분석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548640" cy="54864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467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3467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833"/>
                </a:solidFill>
              </a:rPr>
              <a:t>클러스터별 전략 제안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3666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</a:rPr>
              <a:t>주거 타운 · 오피스 타운 · 복합 지역 맞춤 전략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548640" cy="54864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096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833"/>
                </a:solidFill>
              </a:rPr>
              <a:t>결론 및 제언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44165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</a:rPr>
              <a:t>공간 목적성 × 시간 방향성 매칭 프레임워크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</a:rPr>
              <a:t>01  분석 배경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" cy="84124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960120"/>
            <a:ext cx="8065008" cy="841248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0241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Situation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3075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</a:rPr>
              <a:t>서울 전역 지하철 유동인구는 도시 공간 구조에 따라 독특한 주기성과 방향성을 지니고 있으며, 기업들이 팝업스토어를 마케팅 수단으로 적극 활용하고 있습니다.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47672"/>
            <a:ext cx="82296" cy="8412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947672"/>
            <a:ext cx="8065008" cy="841248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011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Complication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29514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</a:rPr>
              <a:t>단순 총유동인구 중심 입지 선정은 높은 임대료 대비 타겟 고객 불일치를 초래하며, 주거지·업무지의 상반된 시간대별 특성을 반영하지 못해 마케팅 효율이 저하됩니다.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35224"/>
            <a:ext cx="82296" cy="84124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" y="2935224"/>
            <a:ext cx="8065008" cy="841248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9992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</a:rPr>
              <a:t>Question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28269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</a:rPr>
              <a:t>출근 시간대(07~09시) 승하차 데이터를 통해 역사을 '주거 타운 / 오피스 타운 / 복합 지역'으로 분류하고, 팝업스토어 최적 입지·운영 전략은 무엇인가?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22776"/>
            <a:ext cx="82296" cy="8412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3922776"/>
            <a:ext cx="8065008" cy="841248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9867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Answer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27024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</a:rPr>
              <a:t>지역특성지표 X 수식을 통해 3클러스터로 분류하고, 비모수 통계 검정으로 유의성을 검증합니다. 오피스 타운은 '평일 5일 압축 운영', 주거 타운은 '주말·야간 집중 운영' 전략을 도출합니다.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  분석 방법론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</a:rPr>
              <a:t>지역특성지표 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solidFill>
            <a:srgbClr val="1B3A6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=  ( P 승차  −  P 하차 )  /  ( P 승차  +  P 하차 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2560320" cy="2057400"/>
          </a:xfrm>
          <a:prstGeom prst="rect">
            <a:avLst/>
          </a:prstGeom>
          <a:solidFill>
            <a:srgbClr val="34495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97480"/>
            <a:ext cx="256032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80B9"/>
                </a:solidFill>
              </a:rPr>
              <a:t>X → +1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2186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주거 타운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Bed Town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출근 시간대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승차 압도적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697480"/>
            <a:ext cx="2560320" cy="2057400"/>
          </a:xfrm>
          <a:prstGeom prst="rect">
            <a:avLst/>
          </a:prstGeom>
          <a:solidFill>
            <a:srgbClr val="34495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697480"/>
            <a:ext cx="25603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788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</a:rPr>
              <a:t>X → −1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32186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오피스 타운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Office Town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출근 시간대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하차 압도적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697480"/>
            <a:ext cx="2560320" cy="2057400"/>
          </a:xfrm>
          <a:prstGeom prst="rect">
            <a:avLst/>
          </a:prstGeom>
          <a:solidFill>
            <a:srgbClr val="34495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697480"/>
            <a:ext cx="2560320" cy="54864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88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8C8D"/>
                </a:solidFill>
              </a:rPr>
              <a:t>X → 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26480" y="32186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복합 지역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Mixed Zone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승차·하차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균형 유지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28032"/>
            <a:ext cx="393192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5A5A6"/>
                </a:solidFill>
              </a:rPr>
              <a:t>H₀ : 지역유형별 지표 X 차이 없음    H₁ : 통계적으로 유의미한 차이 존재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</a:rPr>
              <a:t>03  통계적 가설 검정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1463040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82296" cy="1463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3A6B"/>
                </a:solidFill>
              </a:rPr>
              <a:t>263.84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</a:rPr>
              <a:t>Kruskal-Wallis H 통계량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1463040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82296" cy="1463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515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392B"/>
                </a:solidFill>
              </a:rPr>
              <a:t>1.2×10⁻⁵⁷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</a:rPr>
              <a:t>p-value (유의확률)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solidFill>
            <a:srgbClr val="1B3A6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606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귀무가설(H₀) 강력 기각 — 지역유형별 출근 시간대 승하차 구조 차이가 우연이 아님 통계적으로 입증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4023360" cy="1005840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11880"/>
            <a:ext cx="82296" cy="10058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03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</a:rPr>
              <a:t>효과크기 η²H  =  0.32 (Large)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공간 분류 모델이 전체 분산의 약 32%를 설명하며,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강건한 실질적 유의성을 갖춤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611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클러스터별 표본 정보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977640"/>
          <a:ext cx="3931920" cy="1036320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지역 유형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평균 지표 X̄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주거 타운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142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</a:rPr>
                        <a:t>+0.63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오피스 타운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85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−0.71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복합 지역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118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F8C8D"/>
                          </a:solidFill>
                        </a:rPr>
                        <a:t>+0.02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</a:rPr>
              <a:t>03  클러스터별 기술통계 요약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F39C12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161040"/>
              </p:ext>
            </p:extLst>
          </p:nvPr>
        </p:nvGraphicFramePr>
        <p:xfrm>
          <a:off x="457200" y="960120"/>
          <a:ext cx="8229600" cy="2270760"/>
        </p:xfrm>
        <a:graphic>
          <a:graphicData uri="http://schemas.openxmlformats.org/drawingml/2006/table">
            <a:tbl>
              <a:tblPr/>
              <a:tblGrid>
                <a:gridCol w="151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지역 유형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역 수(N)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평균 출근 승차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평균 출근 하차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지표 평균(X̄)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대표 역사 예시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980B9"/>
                          </a:solidFill>
                        </a:rPr>
                        <a:t>주거 타운 (Bed Town)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</a:rPr>
                        <a:t>142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</a:rPr>
                        <a:t>185,420명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</a:rPr>
                        <a:t>42,150명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980B9"/>
                          </a:solidFill>
                        </a:rPr>
                        <a:t>+0.63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</a:rPr>
                        <a:t>신림, 노원, 쌍문, 수유 등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오피스 타운 (Office Town)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</a:rPr>
                        <a:t>85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</a:rPr>
                        <a:t>38,900명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</a:rPr>
                        <a:t>245,610명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−0.71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</a:rPr>
                        <a:t>강남, 역삼, 여의도, 가산디지털단지 등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7F8C8D"/>
                          </a:solidFill>
                        </a:rPr>
                        <a:t>복합 및 혼합 지역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</a:rPr>
                        <a:t>118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</a:rPr>
                        <a:t>92,300명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</a:rPr>
                        <a:t>88,400명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7F8C8D"/>
                          </a:solidFill>
                        </a:rPr>
                        <a:t>+0.02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</a:rPr>
                        <a:t>성수, 홍대입구, 건대입구, 신촌 등</a:t>
                      </a:r>
                      <a:endParaRPr lang="en-US" sz="1300" dirty="0"/>
                    </a:p>
                  </a:txBody>
                  <a:tcPr anchor="ctr">
                    <a:lnL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63392"/>
            <a:ext cx="2697480" cy="1481328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281680"/>
            <a:ext cx="2697480" cy="731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4"/>
          <p:cNvSpPr/>
          <p:nvPr/>
        </p:nvSpPr>
        <p:spPr>
          <a:xfrm>
            <a:off x="457200" y="335483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80B9"/>
                </a:solidFill>
              </a:rPr>
              <a:t>▲ 주거 타운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6931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980B9"/>
                </a:solidFill>
              </a:rPr>
              <a:t>X̄ = +0.63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96748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833"/>
                </a:solidFill>
              </a:rPr>
              <a:t>승차 &gt;&gt; 하차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19608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</a:rPr>
              <a:t>신림, 노원, 쌍문, 수유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4246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</a:rPr>
              <a:t>평일 저녁·주말 집중 운영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3263392"/>
            <a:ext cx="2697480" cy="1481328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3263392"/>
            <a:ext cx="269748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3291840" y="335483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</a:rPr>
              <a:t>▼ 오피스 타운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91840" y="36931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</a:rPr>
              <a:t>X̄ = −0.71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291840" y="396748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833"/>
                </a:solidFill>
              </a:rPr>
              <a:t>하차 &gt;&gt; 승차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291840" y="419608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</a:rPr>
              <a:t>강남, 역삼, 여의도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291840" y="44246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</a:rPr>
              <a:t>평일 점심·퇴근길 운영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26480" y="3263392"/>
            <a:ext cx="2697480" cy="1481328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26480" y="3263392"/>
            <a:ext cx="2697480" cy="73152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335483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F8C8D"/>
                </a:solidFill>
              </a:rPr>
              <a:t>◆ 복합 지역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126480" y="36931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F8C8D"/>
                </a:solidFill>
              </a:rPr>
              <a:t>X̄ = ~0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126480" y="396748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833"/>
                </a:solidFill>
              </a:rPr>
              <a:t>승차 ≒ 하차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26480" y="419608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</a:rPr>
              <a:t>성수, 홍대, 건대, 신촌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26480" y="44246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</a:rPr>
              <a:t>주중·주말 상시 운영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</a:rPr>
              <a:t>04  오피스 타운 (Office Town) 입지 전략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1463040" cy="457200"/>
          </a:xfrm>
          <a:prstGeom prst="rect">
            <a:avLst/>
          </a:prstGeom>
          <a:solidFill>
            <a:srgbClr val="C0392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RED ZONE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833"/>
                </a:solidFill>
              </a:rPr>
              <a:t>평일 5일 압축 운영 스케줄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960120"/>
          </a:xfrm>
          <a:prstGeom prst="rect">
            <a:avLst/>
          </a:prstGeom>
          <a:solidFill>
            <a:srgbClr val="FDEDE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⏰  골든 아워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</a:rPr>
              <a:t>평일 점심시간 11:30~13:30  及  퇴근 시간 18:00~20:00  집중 구조  |  주말 유동인구 소멸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21284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✓ 월~금 5일 압축 운영 권장   |   주말 운영 지양 (비용 대비 효과 극히 낮음)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2697480" cy="2057400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97480"/>
            <a:ext cx="82296" cy="2057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구매력 높은 직장인 타겟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테이크아웃 F&amp;B 브랜드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직장인 에센셜 헬스케어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고단가 소형 가젯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697480"/>
            <a:ext cx="2697480" cy="2057400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2697480"/>
            <a:ext cx="82296" cy="2057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즉각적 단기 몰입형 체험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스트레스 해소형 복합 공간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스마트워치·이어폰 체험존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3886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인테리어 샘플링 부스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697480"/>
            <a:ext cx="2697480" cy="2057400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697480"/>
            <a:ext cx="82296" cy="2057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입지 선정 기준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역 출근 하차인구 20만명+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업무ビル 밀집 반경 300m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886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식당·카페 동선 인접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</a:rPr>
              <a:t>04  주거 타운 (Bed Town) 입지 전략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1463040" cy="457200"/>
          </a:xfrm>
          <a:prstGeom prst="rect">
            <a:avLst/>
          </a:prstGeom>
          <a:solidFill>
            <a:srgbClr val="2980B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BLUE ZONE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833"/>
                </a:solidFill>
              </a:rPr>
              <a:t>주말 및 평일 야간 집중 운영 스케줄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960120"/>
          </a:xfrm>
          <a:prstGeom prst="rect">
            <a:avLst/>
          </a:prstGeom>
          <a:solidFill>
            <a:srgbClr val="D6EAF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</a:rPr>
              <a:t>⏰  골든 아워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</a:rPr>
              <a:t>평일 저녁 19:30 이후 귀가 동선  及  주말 전 시간대 유동인구 집중  |  평일 낮 시간대 다운사이징 권장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21284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</a:rPr>
              <a:t>✓ 평일 낮 운영 인건비 최소화 전략   |   주말全天 운영으로 체류 시간 극대화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2697480" cy="2057400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97480"/>
            <a:ext cx="82296" cy="20574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</a:rPr>
              <a:t>생활 밀착형 '슬리퍼 상권'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홈리빙 가구·소품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가성비 구독형 밀키트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반려동물 케어용품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697480"/>
            <a:ext cx="2697480" cy="2057400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2697480"/>
            <a:ext cx="82296" cy="20574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</a:rPr>
              <a:t>로컬 커뮤니티 연계 마케팅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주차장 확장이용 부스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아파트 단위 공동구매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3886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동네 맘카페 연계 쿠폰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697480"/>
            <a:ext cx="2697480" cy="2057400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697480"/>
            <a:ext cx="82296" cy="20574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</a:rPr>
              <a:t>입지 선정 기준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역 출근 승차인구 15만명+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주거단지 밀집 반경 500m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886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시장·백화점 인접 역세권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</a:rPr>
              <a:t>04  복합 및 혼합 상권 (Mixed Zone) 입지 전략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1463040" cy="457200"/>
          </a:xfrm>
          <a:prstGeom prst="rect">
            <a:avLst/>
          </a:prstGeom>
          <a:solidFill>
            <a:srgbClr val="7F8C8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GRAY ZONE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833"/>
                </a:solidFill>
              </a:rPr>
              <a:t>주중·주말 상시 운영 골든 존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960120"/>
          </a:xfrm>
          <a:prstGeom prst="rect">
            <a:avLst/>
          </a:prstGeom>
          <a:solidFill>
            <a:srgbClr val="F2F3F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8C8D"/>
                </a:solidFill>
              </a:rPr>
              <a:t>⏰  골든 아워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</a:rPr>
              <a:t>주중/주말 관계없이 상시 높은 배후 유동인구 유지  |  체류 시간이 가장 긴 목적형 방문객 비율 높음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21284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8C8D"/>
                </a:solidFill>
              </a:rPr>
              <a:t>✓ </a:t>
            </a:r>
            <a:r>
              <a:rPr lang="en-US" sz="1100" b="1" dirty="0" err="1">
                <a:solidFill>
                  <a:srgbClr val="7F8C8D"/>
                </a:solidFill>
              </a:rPr>
              <a:t>여가·트렌드</a:t>
            </a:r>
            <a:r>
              <a:rPr lang="en-US" sz="1100" b="1" dirty="0">
                <a:solidFill>
                  <a:srgbClr val="7F8C8D"/>
                </a:solidFill>
              </a:rPr>
              <a:t> </a:t>
            </a:r>
            <a:r>
              <a:rPr lang="en-US" sz="1100" b="1" dirty="0" err="1">
                <a:solidFill>
                  <a:srgbClr val="7F8C8D"/>
                </a:solidFill>
              </a:rPr>
              <a:t>소비</a:t>
            </a:r>
            <a:r>
              <a:rPr lang="ko-KR" altLang="en-US" sz="1100" b="1" dirty="0">
                <a:solidFill>
                  <a:srgbClr val="7F8C8D"/>
                </a:solidFill>
              </a:rPr>
              <a:t>를 위해 방문</a:t>
            </a:r>
            <a:r>
              <a:rPr lang="en-US" sz="1100" b="1" dirty="0">
                <a:solidFill>
                  <a:srgbClr val="7F8C8D"/>
                </a:solidFill>
              </a:rPr>
              <a:t> → 인스타그램 바이럴 + 브랜드 콜라보레이션 최적 zone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2697480" cy="2057400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97480"/>
            <a:ext cx="82296" cy="205740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8C8D"/>
                </a:solidFill>
              </a:rPr>
              <a:t>고감도 비주얼 마케팅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인스타그램 바이럴 최적화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포토존·입간판 설치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SNSInfluencer 콜라보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697480"/>
            <a:ext cx="2697480" cy="2057400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2697480"/>
            <a:ext cx="82296" cy="205740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8C8D"/>
                </a:solidFill>
              </a:rPr>
              <a:t>대형 브랜드 콜라보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패션/뷰티 플래그십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카페 브랜드 한정 팝업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3886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엔터테인먼트 체험존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697480"/>
            <a:ext cx="2697480" cy="2057400"/>
          </a:xfrm>
          <a:prstGeom prst="rect">
            <a:avLst/>
          </a:prstGeom>
          <a:solidFill>
            <a:srgbClr val="ECF0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697480"/>
            <a:ext cx="82296" cy="205740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8C8D"/>
                </a:solidFill>
              </a:rPr>
              <a:t>입지 선정 기준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역 총 승하차 10만명+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20~30대 유동비중 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886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상업시설·카페 밀집지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05  결론 및 제언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371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1C2833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15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핵심 발견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오프라인 마케팅의 성패는 단순 유동인구 '양(Quantity)'이 아닌,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'공간의 목적성(Quality)'과 '시간의 방향성(Flow)' 정교한 매칭에 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2697480" cy="1371600"/>
          </a:xfrm>
          <a:prstGeom prst="rect">
            <a:avLst/>
          </a:prstGeom>
          <a:solidFill>
            <a:srgbClr val="34495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40280"/>
            <a:ext cx="2697480" cy="6400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80B9"/>
                </a:solidFill>
              </a:rPr>
              <a:t>주거 타운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평일 저녁 19:30~ · 주말 운영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생활 밀착형·가정 소비성향 강함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240280"/>
            <a:ext cx="2697480" cy="1371600"/>
          </a:xfrm>
          <a:prstGeom prst="rect">
            <a:avLst/>
          </a:prstGeom>
          <a:solidFill>
            <a:srgbClr val="34495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240280"/>
            <a:ext cx="269748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</a:rPr>
              <a:t>오피스 타운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6974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평일 점심·퇴근길 집중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구매력 높지만 피로도 높은 직장인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240280"/>
            <a:ext cx="2697480" cy="1371600"/>
          </a:xfrm>
          <a:prstGeom prst="rect">
            <a:avLst/>
          </a:prstGeom>
          <a:solidFill>
            <a:srgbClr val="34495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240280"/>
            <a:ext cx="2697480" cy="64008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F8C8D"/>
                </a:solidFill>
              </a:rPr>
              <a:t>복합 지역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6974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주중·주말 상시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트렌드·여가 목적의 체류형 방문객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1A252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858768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A5A6"/>
                </a:solidFill>
              </a:rPr>
              <a:t>도출된 데이터 모델 및 클러스터별 운영 프레임워크는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5A5A6"/>
                </a:solidFill>
              </a:rPr>
              <a:t>한정된 마케팅 예산 안에서 ROI 극대화 및 타겟 불일치 리스크 최소화를 위한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5A5A6"/>
                </a:solidFill>
              </a:rPr>
              <a:t>신뢰도 높은 의사결정 시스템 역할을 수행합니다.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54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8C8D"/>
                </a:solidFill>
              </a:rPr>
              <a:t>이어드림스쿨6기  |  데이터 분석 프로젝트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970</Words>
  <Application>Microsoft Office PowerPoint</Application>
  <PresentationFormat>화면 슬라이드 쇼(16:9)</PresentationFormat>
  <Paragraphs>193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서울 지하철 유동인구 기반 주거·업무 지역 분류 및 팝업스토어 입지 전략 분석</dc:title>
  <dc:subject>PptxGenJS Presentation</dc:subject>
  <dc:creator>이어드림스쿨6기</dc:creator>
  <cp:lastModifiedBy>중진공39</cp:lastModifiedBy>
  <cp:revision>2</cp:revision>
  <dcterms:created xsi:type="dcterms:W3CDTF">2026-06-25T06:26:32Z</dcterms:created>
  <dcterms:modified xsi:type="dcterms:W3CDTF">2026-06-25T06:35:07Z</dcterms:modified>
</cp:coreProperties>
</file>